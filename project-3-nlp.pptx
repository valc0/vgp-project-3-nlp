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60bafc990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f60bafc990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60bafc990_3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60bafc990_3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60d4c49f1_6_0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" name="Google Shape;78;g3f60d4c49f1_6_0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g3f60d4c49f1_6_0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60d4c49f1_6_19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g3f60d4c49f1_6_19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f60d4c49f1_6_19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60bafc990_3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60bafc990_3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60bafc990_3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60bafc990_3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60bafc990_3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f60bafc990_3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60bafc990_3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f60bafc990_3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60bafc990_3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f60bafc990_3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60bafc990_3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f60bafc990_3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60bafc990_3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f60bafc990_3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60bafc990_3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f60bafc990_3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60bafc990_3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f60bafc990_3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60bafc990_3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f60bafc990_3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900">
                <a:solidFill>
                  <a:srgbClr val="000000"/>
                </a:solidFill>
              </a:rPr>
              <a:t>Project Week 7</a:t>
            </a:r>
            <a:endParaRPr b="1" sz="39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900">
                <a:solidFill>
                  <a:srgbClr val="000000"/>
                </a:solidFill>
              </a:rPr>
              <a:t>Fake News Dataset</a:t>
            </a:r>
            <a:endParaRPr b="1" sz="3900">
              <a:solidFill>
                <a:srgbClr val="000000"/>
              </a:solidFill>
            </a:endParaRPr>
          </a:p>
        </p:txBody>
      </p:sp>
      <p:sp>
        <p:nvSpPr>
          <p:cNvPr id="59" name="Google Shape;59;p15"/>
          <p:cNvSpPr txBox="1"/>
          <p:nvPr>
            <p:ph idx="1" type="subTitle"/>
          </p:nvPr>
        </p:nvSpPr>
        <p:spPr>
          <a:xfrm>
            <a:off x="311700" y="3195125"/>
            <a:ext cx="8520600" cy="8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700">
                <a:solidFill>
                  <a:schemeClr val="dk1"/>
                </a:solidFill>
              </a:rPr>
              <a:t>Team</a:t>
            </a:r>
            <a:r>
              <a:rPr lang="es" sz="1700">
                <a:solidFill>
                  <a:schemeClr val="dk1"/>
                </a:solidFill>
              </a:rPr>
              <a:t>: Jianing Bao, Victor Grapin, Octavian Lazarescu, Bernardo Ortega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Date: 2026 - 07 - 31 (Fri.)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/>
              <a:t>CONTENT</a:t>
            </a:r>
            <a:endParaRPr/>
          </a:p>
        </p:txBody>
      </p:sp>
      <p:sp>
        <p:nvSpPr>
          <p:cNvPr id="65" name="Google Shape;65;p16"/>
          <p:cNvSpPr txBox="1"/>
          <p:nvPr>
            <p:ph idx="1" type="body"/>
          </p:nvPr>
        </p:nvSpPr>
        <p:spPr>
          <a:xfrm>
            <a:off x="311700" y="12287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 u="sng"/>
              <a:t>Fake News Dataset:</a:t>
            </a:r>
            <a:r>
              <a:rPr lang="es"/>
              <a:t> 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Contains </a:t>
            </a:r>
            <a:r>
              <a:rPr b="1" lang="es"/>
              <a:t>34,152</a:t>
            </a:r>
            <a:r>
              <a:rPr lang="es"/>
              <a:t> news headlines (</a:t>
            </a:r>
            <a:r>
              <a:rPr b="1" lang="es"/>
              <a:t>0</a:t>
            </a:r>
            <a:r>
              <a:rPr lang="es"/>
              <a:t>: 17572, </a:t>
            </a:r>
            <a:r>
              <a:rPr b="1" lang="es"/>
              <a:t>1</a:t>
            </a:r>
            <a:r>
              <a:rPr lang="es"/>
              <a:t>: 16580)</a:t>
            </a:r>
            <a:endParaRPr/>
          </a:p>
          <a:p>
            <a:pPr indent="-3429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Preprocessing + Feature Extraction</a:t>
            </a:r>
            <a:endParaRPr/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Logistic Regression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XGBoost</a:t>
            </a:r>
            <a:endParaRPr/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Comparison of models</a:t>
            </a:r>
            <a:endParaRPr/>
          </a:p>
        </p:txBody>
      </p:sp>
      <p:pic>
        <p:nvPicPr>
          <p:cNvPr id="66" name="Google Shape;66;p16" title="截屏2026-07-31 10.47.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3475" y="81675"/>
            <a:ext cx="1828451" cy="7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6"/>
          <p:cNvSpPr txBox="1"/>
          <p:nvPr/>
        </p:nvSpPr>
        <p:spPr>
          <a:xfrm>
            <a:off x="4572002" y="1532105"/>
            <a:ext cx="1203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600">
                <a:solidFill>
                  <a:srgbClr val="CC4125"/>
                </a:solidFill>
              </a:rPr>
              <a:t>REAL</a:t>
            </a:r>
            <a:endParaRPr sz="1600">
              <a:solidFill>
                <a:srgbClr val="CC4125"/>
              </a:solidFill>
            </a:endParaRPr>
          </a:p>
        </p:txBody>
      </p:sp>
      <p:sp>
        <p:nvSpPr>
          <p:cNvPr id="68" name="Google Shape;68;p16"/>
          <p:cNvSpPr txBox="1"/>
          <p:nvPr/>
        </p:nvSpPr>
        <p:spPr>
          <a:xfrm>
            <a:off x="3561300" y="1532099"/>
            <a:ext cx="1010700" cy="4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600">
                <a:solidFill>
                  <a:srgbClr val="4A86E8"/>
                </a:solidFill>
              </a:rPr>
              <a:t>FAKE</a:t>
            </a:r>
            <a:endParaRPr sz="1600">
              <a:solidFill>
                <a:srgbClr val="4A86E8"/>
              </a:solidFill>
            </a:endParaRPr>
          </a:p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938850" y="2225100"/>
            <a:ext cx="7266300" cy="6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3500">
                <a:solidFill>
                  <a:schemeClr val="dk2"/>
                </a:solidFill>
              </a:rPr>
              <a:t>Preprocessing + Feature Extraction</a:t>
            </a:r>
            <a:endParaRPr sz="3500"/>
          </a:p>
        </p:txBody>
      </p:sp>
      <p:sp>
        <p:nvSpPr>
          <p:cNvPr id="75" name="Google Shape;7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/>
          <p:nvPr/>
        </p:nvSpPr>
        <p:spPr>
          <a:xfrm>
            <a:off x="480060" y="342900"/>
            <a:ext cx="54864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Cambria"/>
              <a:buNone/>
            </a:pPr>
            <a:r>
              <a:rPr b="1" lang="es" sz="2400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Data Cleaning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8"/>
          <p:cNvSpPr/>
          <p:nvPr/>
        </p:nvSpPr>
        <p:spPr>
          <a:xfrm>
            <a:off x="480060" y="754380"/>
            <a:ext cx="6172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Preparing and sanitizing raw headline data</a:t>
            </a:r>
            <a:endParaRPr sz="1100"/>
          </a:p>
        </p:txBody>
      </p:sp>
      <p:sp>
        <p:nvSpPr>
          <p:cNvPr id="83" name="Google Shape;83;p18"/>
          <p:cNvSpPr/>
          <p:nvPr/>
        </p:nvSpPr>
        <p:spPr>
          <a:xfrm>
            <a:off x="342900" y="4834890"/>
            <a:ext cx="8044434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800"/>
              <a:buFont typeface="Calibri"/>
              <a:buNone/>
            </a:pPr>
            <a:r>
              <a:rPr lang="es" sz="800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Fake vs. Real News Headline Classifier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8"/>
          <p:cNvSpPr/>
          <p:nvPr/>
        </p:nvSpPr>
        <p:spPr>
          <a:xfrm>
            <a:off x="8524494" y="4834890"/>
            <a:ext cx="342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800"/>
              <a:buFont typeface="Calibri"/>
              <a:buNone/>
            </a:pPr>
            <a:r>
              <a:rPr lang="es" sz="800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60" y="1080048"/>
            <a:ext cx="8049087" cy="251811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8"/>
          <p:cNvSpPr/>
          <p:nvPr/>
        </p:nvSpPr>
        <p:spPr>
          <a:xfrm>
            <a:off x="342900" y="3743031"/>
            <a:ext cx="2640330" cy="829731"/>
          </a:xfrm>
          <a:prstGeom prst="roundRect">
            <a:avLst>
              <a:gd fmla="val 3529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8"/>
          <p:cNvSpPr/>
          <p:nvPr/>
        </p:nvSpPr>
        <p:spPr>
          <a:xfrm>
            <a:off x="586154" y="3853140"/>
            <a:ext cx="2162907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b="1" lang="es" sz="11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Text Cleaning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8"/>
          <p:cNvSpPr/>
          <p:nvPr/>
        </p:nvSpPr>
        <p:spPr>
          <a:xfrm>
            <a:off x="586154" y="4094226"/>
            <a:ext cx="2162907" cy="38595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Regex filtering, lowercasing, missing value safety</a:t>
            </a:r>
            <a:endParaRPr sz="1100"/>
          </a:p>
        </p:txBody>
      </p:sp>
      <p:sp>
        <p:nvSpPr>
          <p:cNvPr id="89" name="Google Shape;89;p18"/>
          <p:cNvSpPr/>
          <p:nvPr/>
        </p:nvSpPr>
        <p:spPr>
          <a:xfrm>
            <a:off x="3223260" y="3743031"/>
            <a:ext cx="2640330" cy="829731"/>
          </a:xfrm>
          <a:prstGeom prst="roundRect">
            <a:avLst>
              <a:gd fmla="val 3529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8"/>
          <p:cNvSpPr/>
          <p:nvPr/>
        </p:nvSpPr>
        <p:spPr>
          <a:xfrm>
            <a:off x="3458308" y="3854663"/>
            <a:ext cx="2162907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Deduplication</a:t>
            </a:r>
            <a:endParaRPr b="1" sz="1100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8"/>
          <p:cNvSpPr/>
          <p:nvPr/>
        </p:nvSpPr>
        <p:spPr>
          <a:xfrm>
            <a:off x="3458308" y="4093170"/>
            <a:ext cx="2162908" cy="38700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Removed identical headline-label pairs</a:t>
            </a:r>
            <a:endParaRPr sz="1100"/>
          </a:p>
        </p:txBody>
      </p:sp>
      <p:sp>
        <p:nvSpPr>
          <p:cNvPr id="92" name="Google Shape;92;p18"/>
          <p:cNvSpPr/>
          <p:nvPr/>
        </p:nvSpPr>
        <p:spPr>
          <a:xfrm>
            <a:off x="6103620" y="3732744"/>
            <a:ext cx="2640330" cy="829731"/>
          </a:xfrm>
          <a:prstGeom prst="roundRect">
            <a:avLst>
              <a:gd fmla="val 3529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8"/>
          <p:cNvSpPr/>
          <p:nvPr/>
        </p:nvSpPr>
        <p:spPr>
          <a:xfrm>
            <a:off x="6348046" y="3854663"/>
            <a:ext cx="2176447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b="1" lang="es" sz="11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Noise Reduction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8"/>
          <p:cNvSpPr/>
          <p:nvPr/>
        </p:nvSpPr>
        <p:spPr>
          <a:xfrm>
            <a:off x="6348047" y="4094693"/>
            <a:ext cx="2176448" cy="38548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Filtered contradictory samples (same text, opposing targets)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/>
          <p:nvPr/>
        </p:nvSpPr>
        <p:spPr>
          <a:xfrm>
            <a:off x="480060" y="342900"/>
            <a:ext cx="54864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Cambria"/>
              <a:buNone/>
            </a:pPr>
            <a:r>
              <a:rPr b="1" lang="es" sz="2400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TF-IDF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9"/>
          <p:cNvSpPr/>
          <p:nvPr/>
        </p:nvSpPr>
        <p:spPr>
          <a:xfrm>
            <a:off x="480060" y="754380"/>
            <a:ext cx="6172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Baseline TF-IDF configuration and data leakage prevention</a:t>
            </a:r>
            <a:endParaRPr sz="1100"/>
          </a:p>
        </p:txBody>
      </p:sp>
      <p:sp>
        <p:nvSpPr>
          <p:cNvPr id="102" name="Google Shape;102;p19"/>
          <p:cNvSpPr/>
          <p:nvPr/>
        </p:nvSpPr>
        <p:spPr>
          <a:xfrm>
            <a:off x="342900" y="4834890"/>
            <a:ext cx="8044434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800"/>
              <a:buFont typeface="Calibri"/>
              <a:buNone/>
            </a:pPr>
            <a:r>
              <a:rPr lang="es" sz="800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Fake vs. Real News Headline Classifier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9"/>
          <p:cNvSpPr/>
          <p:nvPr/>
        </p:nvSpPr>
        <p:spPr>
          <a:xfrm>
            <a:off x="8524494" y="4834890"/>
            <a:ext cx="342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800"/>
              <a:buFont typeface="Calibri"/>
              <a:buNone/>
            </a:pPr>
            <a:r>
              <a:rPr lang="es" sz="800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9"/>
          <p:cNvSpPr/>
          <p:nvPr/>
        </p:nvSpPr>
        <p:spPr>
          <a:xfrm>
            <a:off x="342900" y="3640016"/>
            <a:ext cx="2640330" cy="932746"/>
          </a:xfrm>
          <a:prstGeom prst="roundRect">
            <a:avLst>
              <a:gd fmla="val 3529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9"/>
          <p:cNvSpPr/>
          <p:nvPr/>
        </p:nvSpPr>
        <p:spPr>
          <a:xfrm>
            <a:off x="586154" y="3745816"/>
            <a:ext cx="2162907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N-Gram Strategy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9"/>
          <p:cNvSpPr/>
          <p:nvPr/>
        </p:nvSpPr>
        <p:spPr>
          <a:xfrm>
            <a:off x="586154" y="3985847"/>
            <a:ext cx="2162907" cy="47478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Unigrams + bigrams with sublinear scaling to capture phrase context without over-weighting repeated words.</a:t>
            </a:r>
            <a:endParaRPr sz="1100"/>
          </a:p>
        </p:txBody>
      </p:sp>
      <p:sp>
        <p:nvSpPr>
          <p:cNvPr id="107" name="Google Shape;107;p19"/>
          <p:cNvSpPr/>
          <p:nvPr/>
        </p:nvSpPr>
        <p:spPr>
          <a:xfrm>
            <a:off x="3223260" y="3640015"/>
            <a:ext cx="2640330" cy="932746"/>
          </a:xfrm>
          <a:prstGeom prst="roundRect">
            <a:avLst>
              <a:gd fmla="val 3529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9"/>
          <p:cNvSpPr/>
          <p:nvPr/>
        </p:nvSpPr>
        <p:spPr>
          <a:xfrm>
            <a:off x="3458308" y="3747339"/>
            <a:ext cx="2162907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TF-IDF vs. Embeddings</a:t>
            </a:r>
            <a:endParaRPr b="1" sz="1100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9"/>
          <p:cNvSpPr/>
          <p:nvPr/>
        </p:nvSpPr>
        <p:spPr>
          <a:xfrm>
            <a:off x="3458308" y="3985846"/>
            <a:ext cx="2162908" cy="47478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Keyword presence and rare-word weighting gave stronger signal than dense vectors for short headlines.</a:t>
            </a:r>
            <a:endParaRPr sz="1100"/>
          </a:p>
        </p:txBody>
      </p:sp>
      <p:sp>
        <p:nvSpPr>
          <p:cNvPr id="110" name="Google Shape;110;p19"/>
          <p:cNvSpPr/>
          <p:nvPr/>
        </p:nvSpPr>
        <p:spPr>
          <a:xfrm>
            <a:off x="6103620" y="3640015"/>
            <a:ext cx="2640330" cy="932746"/>
          </a:xfrm>
          <a:prstGeom prst="roundRect">
            <a:avLst>
              <a:gd fmla="val 3529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9"/>
          <p:cNvSpPr/>
          <p:nvPr/>
        </p:nvSpPr>
        <p:spPr>
          <a:xfrm>
            <a:off x="6348046" y="3747339"/>
            <a:ext cx="2176447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Leakage Prevention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9"/>
          <p:cNvSpPr/>
          <p:nvPr/>
        </p:nvSpPr>
        <p:spPr>
          <a:xfrm>
            <a:off x="6348047" y="3985846"/>
            <a:ext cx="2176448" cy="47478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Vectorizer fit strictly on training set; validation set transformed independently.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61" y="1078993"/>
            <a:ext cx="5979355" cy="1560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type="title"/>
          </p:nvPr>
        </p:nvSpPr>
        <p:spPr>
          <a:xfrm>
            <a:off x="1516650" y="1916550"/>
            <a:ext cx="6110700" cy="131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4800"/>
              <a:t>Logistic Regression</a:t>
            </a:r>
            <a:endParaRPr sz="4800"/>
          </a:p>
        </p:txBody>
      </p:sp>
      <p:sp>
        <p:nvSpPr>
          <p:cNvPr id="119" name="Google Shape;11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/>
        </p:nvSpPr>
        <p:spPr>
          <a:xfrm>
            <a:off x="469202" y="1562988"/>
            <a:ext cx="41028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controls</a:t>
            </a:r>
            <a:r>
              <a:rPr lang="es" sz="1100">
                <a:solidFill>
                  <a:schemeClr val="dk1"/>
                </a:solidFill>
              </a:rPr>
              <a:t>  the </a:t>
            </a:r>
            <a:r>
              <a:rPr b="1" lang="es" sz="1100">
                <a:solidFill>
                  <a:schemeClr val="dk1"/>
                </a:solidFill>
              </a:rPr>
              <a:t>strength of regularization</a:t>
            </a:r>
            <a:r>
              <a:rPr lang="es" sz="1100">
                <a:solidFill>
                  <a:schemeClr val="dk1"/>
                </a:solidFill>
              </a:rPr>
              <a:t> in Logistic Regression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2" name="Google Shape;132;p22"/>
          <p:cNvSpPr txBox="1"/>
          <p:nvPr>
            <p:ph idx="4294967295" type="title"/>
          </p:nvPr>
        </p:nvSpPr>
        <p:spPr>
          <a:xfrm>
            <a:off x="311700" y="20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/>
              <a:t>Hyperparameter Tuning: </a:t>
            </a:r>
            <a:endParaRPr/>
          </a:p>
        </p:txBody>
      </p:sp>
      <p:sp>
        <p:nvSpPr>
          <p:cNvPr id="133" name="Google Shape;133;p22"/>
          <p:cNvSpPr txBox="1"/>
          <p:nvPr>
            <p:ph idx="4294967295" type="body"/>
          </p:nvPr>
        </p:nvSpPr>
        <p:spPr>
          <a:xfrm>
            <a:off x="6113525" y="60150"/>
            <a:ext cx="2974200" cy="4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T</a:t>
            </a:r>
            <a:r>
              <a:rPr lang="es"/>
              <a:t>F-IDF + Logistic Regression</a:t>
            </a:r>
            <a:endParaRPr/>
          </a:p>
        </p:txBody>
      </p:sp>
      <p:sp>
        <p:nvSpPr>
          <p:cNvPr id="134" name="Google Shape;134;p22"/>
          <p:cNvSpPr/>
          <p:nvPr/>
        </p:nvSpPr>
        <p:spPr>
          <a:xfrm>
            <a:off x="7071125" y="106500"/>
            <a:ext cx="1894500" cy="354000"/>
          </a:xfrm>
          <a:prstGeom prst="rect">
            <a:avLst/>
          </a:prstGeom>
          <a:noFill/>
          <a:ln cap="flat" cmpd="sng" w="28575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2"/>
          <p:cNvSpPr/>
          <p:nvPr/>
        </p:nvSpPr>
        <p:spPr>
          <a:xfrm>
            <a:off x="2010950" y="1244014"/>
            <a:ext cx="497700" cy="197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2"/>
          <p:cNvSpPr txBox="1"/>
          <p:nvPr/>
        </p:nvSpPr>
        <p:spPr>
          <a:xfrm>
            <a:off x="397375" y="874713"/>
            <a:ext cx="581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LogisticRegression(</a:t>
            </a:r>
            <a:r>
              <a:rPr lang="es" sz="1200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s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max_iter=1000</a:t>
            </a:r>
            <a:r>
              <a:rPr lang="es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7" name="Google Shape;137;p22"/>
          <p:cNvSpPr txBox="1"/>
          <p:nvPr/>
        </p:nvSpPr>
        <p:spPr>
          <a:xfrm>
            <a:off x="4157100" y="778950"/>
            <a:ext cx="49869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</a:rPr>
              <a:t>Too </a:t>
            </a:r>
            <a:r>
              <a:rPr b="1" lang="es" sz="1200">
                <a:solidFill>
                  <a:schemeClr val="dk1"/>
                </a:solidFill>
              </a:rPr>
              <a:t>small →  </a:t>
            </a:r>
            <a:r>
              <a:rPr lang="es" sz="1200">
                <a:solidFill>
                  <a:schemeClr val="dk1"/>
                </a:solidFill>
              </a:rPr>
              <a:t>making the model simpler, </a:t>
            </a:r>
            <a:r>
              <a:rPr lang="es" sz="1200" u="sng">
                <a:solidFill>
                  <a:srgbClr val="0000FF"/>
                </a:solidFill>
              </a:rPr>
              <a:t>underfitting</a:t>
            </a:r>
            <a:r>
              <a:rPr lang="es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</a:rPr>
              <a:t>Too </a:t>
            </a:r>
            <a:r>
              <a:rPr b="1" lang="es" sz="1200">
                <a:solidFill>
                  <a:schemeClr val="dk1"/>
                </a:solidFill>
              </a:rPr>
              <a:t>large → </a:t>
            </a:r>
            <a:r>
              <a:rPr lang="es" sz="1200">
                <a:solidFill>
                  <a:schemeClr val="dk1"/>
                </a:solidFill>
              </a:rPr>
              <a:t> fit more closely, but it may increase the risk of </a:t>
            </a:r>
            <a:r>
              <a:rPr lang="es" sz="1200" u="sng">
                <a:solidFill>
                  <a:srgbClr val="E06666"/>
                </a:solidFill>
              </a:rPr>
              <a:t>overfitting</a:t>
            </a:r>
            <a:r>
              <a:rPr lang="es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200">
                <a:solidFill>
                  <a:schemeClr val="dk1"/>
                </a:solidFill>
              </a:rPr>
              <a:t> </a:t>
            </a:r>
            <a:endParaRPr sz="1900">
              <a:solidFill>
                <a:schemeClr val="dk2"/>
              </a:solidFill>
            </a:endParaRPr>
          </a:p>
        </p:txBody>
      </p:sp>
      <p:pic>
        <p:nvPicPr>
          <p:cNvPr id="138" name="Google Shape;138;p22" title="截屏2026-07-31 10.04.00.png"/>
          <p:cNvPicPr preferRelativeResize="0"/>
          <p:nvPr/>
        </p:nvPicPr>
        <p:blipFill rotWithShape="1">
          <a:blip r:embed="rId3">
            <a:alphaModFix/>
          </a:blip>
          <a:srcRect b="0" l="20736" r="0" t="0"/>
          <a:stretch/>
        </p:blipFill>
        <p:spPr>
          <a:xfrm>
            <a:off x="1522800" y="2440800"/>
            <a:ext cx="1338650" cy="153170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2"/>
          <p:cNvSpPr/>
          <p:nvPr/>
        </p:nvSpPr>
        <p:spPr>
          <a:xfrm rot="5400000">
            <a:off x="3162325" y="2760533"/>
            <a:ext cx="589800" cy="1058101"/>
          </a:xfrm>
          <a:prstGeom prst="downArrow">
            <a:avLst>
              <a:gd fmla="val 50000" name="adj1"/>
              <a:gd fmla="val 66427" name="adj2"/>
            </a:avLst>
          </a:prstGeom>
          <a:solidFill>
            <a:srgbClr val="DD7E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2"/>
          <p:cNvSpPr/>
          <p:nvPr/>
        </p:nvSpPr>
        <p:spPr>
          <a:xfrm rot="-5403497">
            <a:off x="631827" y="2760537"/>
            <a:ext cx="589800" cy="1058100"/>
          </a:xfrm>
          <a:prstGeom prst="downArrow">
            <a:avLst>
              <a:gd fmla="val 50000" name="adj1"/>
              <a:gd fmla="val 6642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2"/>
          <p:cNvSpPr txBox="1"/>
          <p:nvPr/>
        </p:nvSpPr>
        <p:spPr>
          <a:xfrm>
            <a:off x="311700" y="2793725"/>
            <a:ext cx="842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2"/>
                </a:solidFill>
              </a:rPr>
              <a:t>default: 1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142" name="Google Shape;14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1225" y="1884000"/>
            <a:ext cx="4406699" cy="297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2"/>
          <p:cNvSpPr/>
          <p:nvPr/>
        </p:nvSpPr>
        <p:spPr>
          <a:xfrm>
            <a:off x="1494175" y="3191021"/>
            <a:ext cx="1395900" cy="197100"/>
          </a:xfrm>
          <a:prstGeom prst="rect">
            <a:avLst/>
          </a:prstGeom>
          <a:noFill/>
          <a:ln cap="flat" cmpd="sng" w="28575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2"/>
          <p:cNvSpPr/>
          <p:nvPr/>
        </p:nvSpPr>
        <p:spPr>
          <a:xfrm rot="10795367">
            <a:off x="6890450" y="2255405"/>
            <a:ext cx="222600" cy="405000"/>
          </a:xfrm>
          <a:prstGeom prst="downArrow">
            <a:avLst>
              <a:gd fmla="val 48607" name="adj1"/>
              <a:gd fmla="val 40598" name="adj2"/>
            </a:avLst>
          </a:prstGeom>
          <a:solidFill>
            <a:srgbClr val="DD7E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2"/>
          <p:cNvSpPr txBox="1"/>
          <p:nvPr/>
        </p:nvSpPr>
        <p:spPr>
          <a:xfrm>
            <a:off x="1071725" y="4520550"/>
            <a:ext cx="2094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100">
                <a:solidFill>
                  <a:schemeClr val="dk1"/>
                </a:solidFill>
              </a:rPr>
              <a:t>Best </a:t>
            </a:r>
            <a:r>
              <a:rPr b="1" lang="es" sz="1100">
                <a:solidFill>
                  <a:schemeClr val="dk1"/>
                </a:solidFill>
              </a:rPr>
              <a:t>C Value</a:t>
            </a:r>
            <a:r>
              <a:rPr b="1" lang="es" sz="1100">
                <a:solidFill>
                  <a:schemeClr val="dk1"/>
                </a:solidFill>
              </a:rPr>
              <a:t>:</a:t>
            </a:r>
            <a:r>
              <a:rPr lang="es" sz="1100">
                <a:solidFill>
                  <a:schemeClr val="dk1"/>
                </a:solidFill>
              </a:rPr>
              <a:t> </a:t>
            </a:r>
            <a:r>
              <a:rPr lang="es" sz="1100">
                <a:solidFill>
                  <a:srgbClr val="188038"/>
                </a:solidFill>
              </a:rPr>
              <a:t>C = 1  (Default)</a:t>
            </a:r>
            <a:endParaRPr sz="1100">
              <a:solidFill>
                <a:srgbClr val="188038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idx="4294967295" type="title"/>
          </p:nvPr>
        </p:nvSpPr>
        <p:spPr>
          <a:xfrm>
            <a:off x="311700" y="11130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/>
              <a:t>Hyperparameter Tuning: </a:t>
            </a:r>
            <a:endParaRPr/>
          </a:p>
        </p:txBody>
      </p:sp>
      <p:sp>
        <p:nvSpPr>
          <p:cNvPr id="151" name="Google Shape;151;p23"/>
          <p:cNvSpPr txBox="1"/>
          <p:nvPr>
            <p:ph idx="4294967295" type="body"/>
          </p:nvPr>
        </p:nvSpPr>
        <p:spPr>
          <a:xfrm>
            <a:off x="6113525" y="60150"/>
            <a:ext cx="2974200" cy="4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TF-IDF + Logistic Regression</a:t>
            </a:r>
            <a:endParaRPr/>
          </a:p>
        </p:txBody>
      </p:sp>
      <p:sp>
        <p:nvSpPr>
          <p:cNvPr id="152" name="Google Shape;152;p23"/>
          <p:cNvSpPr txBox="1"/>
          <p:nvPr/>
        </p:nvSpPr>
        <p:spPr>
          <a:xfrm>
            <a:off x="328010" y="734009"/>
            <a:ext cx="6196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vectorizer = CountVectorizer( </a:t>
            </a:r>
            <a:r>
              <a:rPr lang="es" sz="1100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ngram_range</a:t>
            </a:r>
            <a:r>
              <a:rPr lang="es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=(</a:t>
            </a:r>
            <a:r>
              <a:rPr lang="es" sz="11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1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s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), </a:t>
            </a:r>
            <a:r>
              <a:rPr lang="es" sz="1100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max_features</a:t>
            </a:r>
            <a:r>
              <a:rPr lang="es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=feature)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3" name="Google Shape;153;p23"/>
          <p:cNvSpPr/>
          <p:nvPr/>
        </p:nvSpPr>
        <p:spPr>
          <a:xfrm>
            <a:off x="6113525" y="106500"/>
            <a:ext cx="786600" cy="354000"/>
          </a:xfrm>
          <a:prstGeom prst="rect">
            <a:avLst/>
          </a:prstGeom>
          <a:noFill/>
          <a:ln cap="flat" cmpd="sng" w="28575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3"/>
          <p:cNvSpPr txBox="1"/>
          <p:nvPr/>
        </p:nvSpPr>
        <p:spPr>
          <a:xfrm>
            <a:off x="1752785" y="1228809"/>
            <a:ext cx="2497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</a:rPr>
              <a:t>max. length of word combinations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100">
                <a:solidFill>
                  <a:schemeClr val="dk1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5" name="Google Shape;155;p23"/>
          <p:cNvSpPr txBox="1"/>
          <p:nvPr/>
        </p:nvSpPr>
        <p:spPr>
          <a:xfrm>
            <a:off x="4646535" y="1228809"/>
            <a:ext cx="2816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100">
                <a:solidFill>
                  <a:schemeClr val="dk1"/>
                </a:solidFill>
              </a:rPr>
              <a:t>size of the vocabulary used for training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6" name="Google Shape;156;p23"/>
          <p:cNvSpPr/>
          <p:nvPr/>
        </p:nvSpPr>
        <p:spPr>
          <a:xfrm>
            <a:off x="3031760" y="1088009"/>
            <a:ext cx="497700" cy="197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3"/>
          <p:cNvSpPr/>
          <p:nvPr/>
        </p:nvSpPr>
        <p:spPr>
          <a:xfrm>
            <a:off x="5061760" y="1088009"/>
            <a:ext cx="497700" cy="197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806" y="1582800"/>
            <a:ext cx="3450795" cy="26721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9" name="Google Shape;15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6525" y="1582800"/>
            <a:ext cx="4048204" cy="26721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0" name="Google Shape;160;p23"/>
          <p:cNvSpPr/>
          <p:nvPr/>
        </p:nvSpPr>
        <p:spPr>
          <a:xfrm>
            <a:off x="1651000" y="2198050"/>
            <a:ext cx="497700" cy="1968600"/>
          </a:xfrm>
          <a:prstGeom prst="rect">
            <a:avLst/>
          </a:prstGeom>
          <a:noFill/>
          <a:ln cap="flat" cmpd="sng" w="28575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3"/>
          <p:cNvSpPr/>
          <p:nvPr/>
        </p:nvSpPr>
        <p:spPr>
          <a:xfrm rot="10795367">
            <a:off x="7376735" y="2198188"/>
            <a:ext cx="222600" cy="405000"/>
          </a:xfrm>
          <a:prstGeom prst="downArrow">
            <a:avLst>
              <a:gd fmla="val 48607" name="adj1"/>
              <a:gd fmla="val 40598" name="adj2"/>
            </a:avLst>
          </a:prstGeom>
          <a:solidFill>
            <a:srgbClr val="DD7E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3"/>
          <p:cNvSpPr txBox="1"/>
          <p:nvPr/>
        </p:nvSpPr>
        <p:spPr>
          <a:xfrm>
            <a:off x="2498225" y="4254950"/>
            <a:ext cx="4401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100">
                <a:solidFill>
                  <a:schemeClr val="dk1"/>
                </a:solidFill>
              </a:rPr>
              <a:t>Best parameters:</a:t>
            </a:r>
            <a:r>
              <a:rPr lang="es" sz="1100">
                <a:solidFill>
                  <a:schemeClr val="dk1"/>
                </a:solidFill>
              </a:rPr>
              <a:t> </a:t>
            </a:r>
            <a:r>
              <a:rPr lang="es" sz="1100">
                <a:solidFill>
                  <a:srgbClr val="188038"/>
                </a:solidFill>
              </a:rPr>
              <a:t>ngram_range = (1,2)</a:t>
            </a:r>
            <a:r>
              <a:rPr lang="es" sz="1100">
                <a:solidFill>
                  <a:schemeClr val="dk1"/>
                </a:solidFill>
              </a:rPr>
              <a:t>, </a:t>
            </a:r>
            <a:r>
              <a:rPr lang="es" sz="1100">
                <a:solidFill>
                  <a:srgbClr val="188038"/>
                </a:solidFill>
              </a:rPr>
              <a:t>max_features = 100000</a:t>
            </a:r>
            <a:endParaRPr sz="1100">
              <a:solidFill>
                <a:srgbClr val="188038"/>
              </a:solidFill>
            </a:endParaRPr>
          </a:p>
        </p:txBody>
      </p:sp>
      <p:sp>
        <p:nvSpPr>
          <p:cNvPr id="163" name="Google Shape;163;p23"/>
          <p:cNvSpPr txBox="1"/>
          <p:nvPr/>
        </p:nvSpPr>
        <p:spPr>
          <a:xfrm>
            <a:off x="2983300" y="4650075"/>
            <a:ext cx="4101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300">
                <a:solidFill>
                  <a:schemeClr val="dk1"/>
                </a:solidFill>
              </a:rPr>
              <a:t>→ </a:t>
            </a:r>
            <a:r>
              <a:rPr b="1" lang="es" sz="1500">
                <a:solidFill>
                  <a:schemeClr val="dk1"/>
                </a:solidFill>
              </a:rPr>
              <a:t>I</a:t>
            </a:r>
            <a:r>
              <a:rPr b="1" lang="es" sz="1500">
                <a:solidFill>
                  <a:schemeClr val="dk1"/>
                </a:solidFill>
              </a:rPr>
              <a:t>mprove</a:t>
            </a:r>
            <a:r>
              <a:rPr lang="es" sz="1500">
                <a:solidFill>
                  <a:schemeClr val="dk1"/>
                </a:solidFill>
              </a:rPr>
              <a:t> the model performance</a:t>
            </a:r>
            <a:endParaRPr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>
            <p:ph type="title"/>
          </p:nvPr>
        </p:nvSpPr>
        <p:spPr>
          <a:xfrm>
            <a:off x="3201900" y="1916550"/>
            <a:ext cx="2740200" cy="131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4800"/>
              <a:t>XGBoost</a:t>
            </a:r>
            <a:endParaRPr sz="4800"/>
          </a:p>
        </p:txBody>
      </p:sp>
      <p:sp>
        <p:nvSpPr>
          <p:cNvPr id="169" name="Google Shape;16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"/>
          <p:cNvSpPr txBox="1"/>
          <p:nvPr>
            <p:ph type="title"/>
          </p:nvPr>
        </p:nvSpPr>
        <p:spPr>
          <a:xfrm>
            <a:off x="2705100" y="1916550"/>
            <a:ext cx="3733800" cy="131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4800"/>
              <a:t>Comparison</a:t>
            </a:r>
            <a:endParaRPr sz="4800"/>
          </a:p>
        </p:txBody>
      </p:sp>
      <p:sp>
        <p:nvSpPr>
          <p:cNvPr id="184" name="Google Shape;18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4650"/>
            <a:ext cx="9143997" cy="50988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9"/>
          <p:cNvSpPr txBox="1"/>
          <p:nvPr>
            <p:ph type="title"/>
          </p:nvPr>
        </p:nvSpPr>
        <p:spPr>
          <a:xfrm>
            <a:off x="2807400" y="1831800"/>
            <a:ext cx="3529200" cy="14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000"/>
              <a:t>THANKS</a:t>
            </a:r>
            <a:endParaRPr sz="6000"/>
          </a:p>
        </p:txBody>
      </p:sp>
      <p:sp>
        <p:nvSpPr>
          <p:cNvPr id="195" name="Google Shape;195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